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" charset="1" panose="020B0606030504020204"/>
      <p:regular r:id="rId16"/>
    </p:embeddedFont>
    <p:embeddedFont>
      <p:font typeface="Nirand Bold" charset="1" panose="00000000000000000000"/>
      <p:regular r:id="rId17"/>
    </p:embeddedFont>
    <p:embeddedFont>
      <p:font typeface="Nunito" charset="1" panose="00000000000000000000"/>
      <p:regular r:id="rId18"/>
    </p:embeddedFont>
    <p:embeddedFont>
      <p:font typeface="Nunito Bold" charset="1" panose="00000000000000000000"/>
      <p:regular r:id="rId19"/>
    </p:embeddedFon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662" y="-2876710"/>
            <a:ext cx="16040420" cy="1604042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86220" y="1343149"/>
            <a:ext cx="2513081" cy="251308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99"/>
                </a:lnSpc>
                <a:spcBef>
                  <a:spcPct val="0"/>
                </a:spcBef>
              </a:pPr>
              <a:r>
                <a:rPr lang="en-US" sz="4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6.0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-1799267" y="623519"/>
            <a:ext cx="773390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481398" y="8249387"/>
            <a:ext cx="1586288" cy="158628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74542" y="1028700"/>
            <a:ext cx="10176452" cy="3141980"/>
          </a:xfrm>
          <a:custGeom>
            <a:avLst/>
            <a:gdLst/>
            <a:ahLst/>
            <a:cxnLst/>
            <a:rect r="r" b="b" t="t" l="l"/>
            <a:pathLst>
              <a:path h="3141980" w="10176452">
                <a:moveTo>
                  <a:pt x="0" y="0"/>
                </a:moveTo>
                <a:lnTo>
                  <a:pt x="10176452" y="0"/>
                </a:lnTo>
                <a:lnTo>
                  <a:pt x="10176452" y="3141980"/>
                </a:lnTo>
                <a:lnTo>
                  <a:pt x="0" y="314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4542" y="3954242"/>
            <a:ext cx="11124645" cy="249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 b="true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BragBoard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5328" y="6213792"/>
            <a:ext cx="113638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Internal Employee Recognition Wall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67686" y="7652882"/>
            <a:ext cx="7682794" cy="59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1"/>
              </a:lnSpc>
            </a:pPr>
            <a:r>
              <a:rPr lang="en-US" sz="3515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Under the Guidance of: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67686" y="8182712"/>
            <a:ext cx="7682794" cy="60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1"/>
              </a:lnSpc>
            </a:pPr>
            <a:r>
              <a:rPr lang="en-US" sz="3515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Swaraj Aalla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40084" y="-5661115"/>
            <a:ext cx="14522629" cy="145226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384836"/>
            <a:ext cx="3517329" cy="3517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3153796" y="6668639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817335" y="676275"/>
            <a:ext cx="11148876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49439" y="2798600"/>
            <a:ext cx="8209367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In many organizations, employee appreciation is informal, inconsistent,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and often goes unnoticed across teams.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There is a need for a centralized platform that encourages recognition,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engagement, and positive workplace culture.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40084" y="-5796175"/>
            <a:ext cx="14522629" cy="145226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384836"/>
            <a:ext cx="3517329" cy="3517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3153796" y="6668639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248716" y="1266389"/>
            <a:ext cx="11010584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PROPOSED SOLUTION – BRAGBOARD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96715" y="4858254"/>
            <a:ext cx="8209367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A company-wide digital recognition wall 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Employees can post shout-outs for teammates 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Tagging, reactions, and comments for engagement 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Admin moderation and analytics dashboard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42612" y="394769"/>
            <a:ext cx="6880458" cy="68804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23108" y="2540483"/>
            <a:ext cx="3517329" cy="3517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-557588" y="7275227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03951" y="1957408"/>
            <a:ext cx="2518590" cy="2094370"/>
          </a:xfrm>
          <a:custGeom>
            <a:avLst/>
            <a:gdLst/>
            <a:ahLst/>
            <a:cxnLst/>
            <a:rect r="r" b="b" t="t" l="l"/>
            <a:pathLst>
              <a:path h="2094370" w="2518590">
                <a:moveTo>
                  <a:pt x="0" y="0"/>
                </a:moveTo>
                <a:lnTo>
                  <a:pt x="2518591" y="0"/>
                </a:lnTo>
                <a:lnTo>
                  <a:pt x="2518591" y="2094370"/>
                </a:lnTo>
                <a:lnTo>
                  <a:pt x="0" y="2094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012" t="-41855" r="-72887" b="-4257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460025" y="1957408"/>
            <a:ext cx="2094370" cy="2094370"/>
          </a:xfrm>
          <a:custGeom>
            <a:avLst/>
            <a:gdLst/>
            <a:ahLst/>
            <a:cxnLst/>
            <a:rect r="r" b="b" t="t" l="l"/>
            <a:pathLst>
              <a:path h="2094370" w="2094370">
                <a:moveTo>
                  <a:pt x="0" y="0"/>
                </a:moveTo>
                <a:lnTo>
                  <a:pt x="2094370" y="0"/>
                </a:lnTo>
                <a:lnTo>
                  <a:pt x="2094370" y="2094370"/>
                </a:lnTo>
                <a:lnTo>
                  <a:pt x="0" y="2094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76671" y="1833843"/>
            <a:ext cx="2084305" cy="2084305"/>
          </a:xfrm>
          <a:custGeom>
            <a:avLst/>
            <a:gdLst/>
            <a:ahLst/>
            <a:cxnLst/>
            <a:rect r="r" b="b" t="t" l="l"/>
            <a:pathLst>
              <a:path h="2084305" w="2084305">
                <a:moveTo>
                  <a:pt x="0" y="0"/>
                </a:moveTo>
                <a:lnTo>
                  <a:pt x="2084305" y="0"/>
                </a:lnTo>
                <a:lnTo>
                  <a:pt x="2084305" y="2084305"/>
                </a:lnTo>
                <a:lnTo>
                  <a:pt x="0" y="2084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50713" y="2020160"/>
            <a:ext cx="2391977" cy="2031618"/>
          </a:xfrm>
          <a:custGeom>
            <a:avLst/>
            <a:gdLst/>
            <a:ahLst/>
            <a:cxnLst/>
            <a:rect r="r" b="b" t="t" l="l"/>
            <a:pathLst>
              <a:path h="2031618" w="2391977">
                <a:moveTo>
                  <a:pt x="0" y="0"/>
                </a:moveTo>
                <a:lnTo>
                  <a:pt x="2391977" y="0"/>
                </a:lnTo>
                <a:lnTo>
                  <a:pt x="2391977" y="2031618"/>
                </a:lnTo>
                <a:lnTo>
                  <a:pt x="0" y="2031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093" r="0" b="-8644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953345" y="6733433"/>
            <a:ext cx="2128082" cy="2128082"/>
          </a:xfrm>
          <a:custGeom>
            <a:avLst/>
            <a:gdLst/>
            <a:ahLst/>
            <a:cxnLst/>
            <a:rect r="r" b="b" t="t" l="l"/>
            <a:pathLst>
              <a:path h="2128082" w="2128082">
                <a:moveTo>
                  <a:pt x="0" y="0"/>
                </a:moveTo>
                <a:lnTo>
                  <a:pt x="2128082" y="0"/>
                </a:lnTo>
                <a:lnTo>
                  <a:pt x="2128082" y="2128082"/>
                </a:lnTo>
                <a:lnTo>
                  <a:pt x="0" y="2128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949982" y="195338"/>
            <a:ext cx="10388035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TECHNOLOGY 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67074" y="4270313"/>
            <a:ext cx="3003837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Used to build a dynamic and responsive user interface for posting shout-outs, viewing feeds, and interacting with reactions and comments.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92728" y="4261048"/>
            <a:ext cx="2890066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Provides utility-first styling to design a clean, modern, and consistent UI with faster development and responsive layouts.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03951" y="4270313"/>
            <a:ext cx="2855436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Handles backend business logic and REST APIs for authentication, shout-out management, comments, reactions, and admin operations.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45339" y="4261048"/>
            <a:ext cx="2348490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Ensures secure user authentication and role-based access control using access and refresh tokens.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22578" y="6950066"/>
            <a:ext cx="3418182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Stores structured application data such as users, shout-outs, comments, reactions, and admin logs securely and efficiently.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07422" y="3887834"/>
            <a:ext cx="4963891" cy="49638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23108" y="2540483"/>
            <a:ext cx="3517329" cy="3517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4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62748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-557588" y="7275227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4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438595" y="4526688"/>
            <a:ext cx="3101546" cy="3686182"/>
          </a:xfrm>
          <a:custGeom>
            <a:avLst/>
            <a:gdLst/>
            <a:ahLst/>
            <a:cxnLst/>
            <a:rect r="r" b="b" t="t" l="l"/>
            <a:pathLst>
              <a:path h="3686182" w="3101546">
                <a:moveTo>
                  <a:pt x="0" y="0"/>
                </a:moveTo>
                <a:lnTo>
                  <a:pt x="3101546" y="0"/>
                </a:lnTo>
                <a:lnTo>
                  <a:pt x="3101546" y="3686183"/>
                </a:lnTo>
                <a:lnTo>
                  <a:pt x="0" y="3686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94220" y="933450"/>
            <a:ext cx="541163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Core 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94220" y="2310176"/>
            <a:ext cx="7379959" cy="2323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2663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1. Employee shout-outs with tagging  </a:t>
            </a:r>
          </a:p>
          <a:p>
            <a:pPr algn="l">
              <a:lnSpc>
                <a:spcPts val="3729"/>
              </a:lnSpc>
            </a:pPr>
            <a:r>
              <a:rPr lang="en-US" sz="2663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2. Multi-recipient appreciation posts  </a:t>
            </a:r>
          </a:p>
          <a:p>
            <a:pPr algn="l">
              <a:lnSpc>
                <a:spcPts val="3729"/>
              </a:lnSpc>
            </a:pPr>
            <a:r>
              <a:rPr lang="en-US" sz="2663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3. Reactions: Like, Clap, Star  </a:t>
            </a:r>
          </a:p>
          <a:p>
            <a:pPr algn="l">
              <a:lnSpc>
                <a:spcPts val="3729"/>
              </a:lnSpc>
            </a:pPr>
            <a:r>
              <a:rPr lang="en-US" sz="2663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4. Commenting system with timestamps  </a:t>
            </a:r>
          </a:p>
          <a:p>
            <a:pPr algn="l">
              <a:lnSpc>
                <a:spcPts val="3729"/>
              </a:lnSpc>
            </a:pPr>
            <a:r>
              <a:rPr lang="en-US" sz="2663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5. Admin dashboard for moderation &amp;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94220" y="5236757"/>
            <a:ext cx="588434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System Modules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94220" y="6610262"/>
            <a:ext cx="7379959" cy="185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2663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Module A: User Management &amp; Authentication  </a:t>
            </a:r>
          </a:p>
          <a:p>
            <a:pPr algn="l">
              <a:lnSpc>
                <a:spcPts val="3729"/>
              </a:lnSpc>
            </a:pPr>
            <a:r>
              <a:rPr lang="en-US" sz="2663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Module B: Shout-Out Creation &amp; Feed  </a:t>
            </a:r>
          </a:p>
          <a:p>
            <a:pPr algn="l">
              <a:lnSpc>
                <a:spcPts val="3729"/>
              </a:lnSpc>
            </a:pPr>
            <a:r>
              <a:rPr lang="en-US" sz="2663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Module C: Tagging, Reactions &amp; Comments  </a:t>
            </a:r>
          </a:p>
          <a:p>
            <a:pPr algn="l">
              <a:lnSpc>
                <a:spcPts val="3729"/>
              </a:lnSpc>
            </a:pPr>
            <a:r>
              <a:rPr lang="en-US" sz="2663">
                <a:solidFill>
                  <a:srgbClr val="2E3A44"/>
                </a:solidFill>
                <a:latin typeface="Open Sans"/>
                <a:ea typeface="Open Sans"/>
                <a:cs typeface="Open Sans"/>
                <a:sym typeface="Open Sans"/>
              </a:rPr>
              <a:t>Module D: Admin Tools &amp; Analytics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291204" y="691258"/>
            <a:ext cx="5396328" cy="2989131"/>
          </a:xfrm>
          <a:custGeom>
            <a:avLst/>
            <a:gdLst/>
            <a:ahLst/>
            <a:cxnLst/>
            <a:rect r="r" b="b" t="t" l="l"/>
            <a:pathLst>
              <a:path h="2989131" w="5396328">
                <a:moveTo>
                  <a:pt x="0" y="0"/>
                </a:moveTo>
                <a:lnTo>
                  <a:pt x="5396328" y="0"/>
                </a:lnTo>
                <a:lnTo>
                  <a:pt x="5396328" y="2989131"/>
                </a:lnTo>
                <a:lnTo>
                  <a:pt x="0" y="2989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770" r="0" b="-777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1159" y="-1673534"/>
            <a:ext cx="14120094" cy="1412009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322038" y="-1115182"/>
            <a:ext cx="2230365" cy="22303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5396" y="2580670"/>
            <a:ext cx="2793469" cy="657517"/>
            <a:chOff x="0" y="0"/>
            <a:chExt cx="735729" cy="1731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5729" cy="173173"/>
            </a:xfrm>
            <a:custGeom>
              <a:avLst/>
              <a:gdLst/>
              <a:ahLst/>
              <a:cxnLst/>
              <a:rect r="r" b="b" t="t" l="l"/>
              <a:pathLst>
                <a:path h="173173" w="735729">
                  <a:moveTo>
                    <a:pt x="0" y="0"/>
                  </a:moveTo>
                  <a:lnTo>
                    <a:pt x="735729" y="0"/>
                  </a:lnTo>
                  <a:lnTo>
                    <a:pt x="735729" y="173173"/>
                  </a:lnTo>
                  <a:lnTo>
                    <a:pt x="0" y="173173"/>
                  </a:lnTo>
                  <a:close/>
                </a:path>
              </a:pathLst>
            </a:custGeom>
            <a:solidFill>
              <a:srgbClr val="2E3A4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35729" cy="23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React Frontend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9748" y="6296065"/>
            <a:ext cx="3363853" cy="680278"/>
            <a:chOff x="0" y="0"/>
            <a:chExt cx="885953" cy="1791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5953" cy="179168"/>
            </a:xfrm>
            <a:custGeom>
              <a:avLst/>
              <a:gdLst/>
              <a:ahLst/>
              <a:cxnLst/>
              <a:rect r="r" b="b" t="t" l="l"/>
              <a:pathLst>
                <a:path h="179168" w="885953">
                  <a:moveTo>
                    <a:pt x="0" y="0"/>
                  </a:moveTo>
                  <a:lnTo>
                    <a:pt x="885953" y="0"/>
                  </a:lnTo>
                  <a:lnTo>
                    <a:pt x="885953" y="179168"/>
                  </a:lnTo>
                  <a:lnTo>
                    <a:pt x="0" y="179168"/>
                  </a:lnTo>
                  <a:close/>
                </a:path>
              </a:pathLst>
            </a:custGeom>
            <a:solidFill>
              <a:srgbClr val="2E3A4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885953" cy="236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Fast API Backend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2672" y="7557368"/>
            <a:ext cx="3941481" cy="657517"/>
            <a:chOff x="0" y="0"/>
            <a:chExt cx="1038086" cy="1731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8086" cy="173173"/>
            </a:xfrm>
            <a:custGeom>
              <a:avLst/>
              <a:gdLst/>
              <a:ahLst/>
              <a:cxnLst/>
              <a:rect r="r" b="b" t="t" l="l"/>
              <a:pathLst>
                <a:path h="173173" w="1038086">
                  <a:moveTo>
                    <a:pt x="0" y="0"/>
                  </a:moveTo>
                  <a:lnTo>
                    <a:pt x="1038086" y="0"/>
                  </a:lnTo>
                  <a:lnTo>
                    <a:pt x="1038086" y="173173"/>
                  </a:lnTo>
                  <a:lnTo>
                    <a:pt x="0" y="173173"/>
                  </a:lnTo>
                  <a:close/>
                </a:path>
              </a:pathLst>
            </a:custGeom>
            <a:solidFill>
              <a:srgbClr val="2E3A4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38086" cy="23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Postgre Sql Data Base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2758630" y="5753371"/>
            <a:ext cx="0" cy="45513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1437221" y="3819212"/>
            <a:ext cx="2680919" cy="657517"/>
            <a:chOff x="0" y="0"/>
            <a:chExt cx="706086" cy="1731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6086" cy="173173"/>
            </a:xfrm>
            <a:custGeom>
              <a:avLst/>
              <a:gdLst/>
              <a:ahLst/>
              <a:cxnLst/>
              <a:rect r="r" b="b" t="t" l="l"/>
              <a:pathLst>
                <a:path h="173173" w="706086">
                  <a:moveTo>
                    <a:pt x="0" y="0"/>
                  </a:moveTo>
                  <a:lnTo>
                    <a:pt x="706086" y="0"/>
                  </a:lnTo>
                  <a:lnTo>
                    <a:pt x="706086" y="173173"/>
                  </a:lnTo>
                  <a:lnTo>
                    <a:pt x="0" y="173173"/>
                  </a:lnTo>
                  <a:close/>
                </a:path>
              </a:pathLst>
            </a:custGeom>
            <a:solidFill>
              <a:srgbClr val="2E3A4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706086" cy="23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REST API Layer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30661" y="5057754"/>
            <a:ext cx="3382940" cy="657517"/>
            <a:chOff x="0" y="0"/>
            <a:chExt cx="890980" cy="1731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90980" cy="173173"/>
            </a:xfrm>
            <a:custGeom>
              <a:avLst/>
              <a:gdLst/>
              <a:ahLst/>
              <a:cxnLst/>
              <a:rect r="r" b="b" t="t" l="l"/>
              <a:pathLst>
                <a:path h="173173" w="890980">
                  <a:moveTo>
                    <a:pt x="0" y="0"/>
                  </a:moveTo>
                  <a:lnTo>
                    <a:pt x="890980" y="0"/>
                  </a:lnTo>
                  <a:lnTo>
                    <a:pt x="890980" y="173173"/>
                  </a:lnTo>
                  <a:lnTo>
                    <a:pt x="0" y="173173"/>
                  </a:lnTo>
                  <a:close/>
                </a:path>
              </a:pathLst>
            </a:custGeom>
            <a:solidFill>
              <a:srgbClr val="2E3A4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890980" cy="23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JWT Authentication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H="true">
            <a:off x="2739580" y="6997076"/>
            <a:ext cx="0" cy="560292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2758630" y="3277247"/>
            <a:ext cx="0" cy="502906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2758630" y="4554848"/>
            <a:ext cx="0" cy="502906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6400538" y="2148018"/>
            <a:ext cx="3401241" cy="1825538"/>
            <a:chOff x="0" y="0"/>
            <a:chExt cx="895800" cy="48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95800" cy="480800"/>
            </a:xfrm>
            <a:custGeom>
              <a:avLst/>
              <a:gdLst/>
              <a:ahLst/>
              <a:cxnLst/>
              <a:rect r="r" b="b" t="t" l="l"/>
              <a:pathLst>
                <a:path h="480800" w="895800">
                  <a:moveTo>
                    <a:pt x="0" y="0"/>
                  </a:moveTo>
                  <a:lnTo>
                    <a:pt x="895800" y="0"/>
                  </a:lnTo>
                  <a:lnTo>
                    <a:pt x="895800" y="480800"/>
                  </a:lnTo>
                  <a:lnTo>
                    <a:pt x="0" y="480800"/>
                  </a:ln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95800" cy="52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Shout-outs UI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• Feed &amp; Comments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Admin Dashboard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00538" y="4230731"/>
            <a:ext cx="3401241" cy="1905601"/>
            <a:chOff x="0" y="0"/>
            <a:chExt cx="895800" cy="50188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5800" cy="501887"/>
            </a:xfrm>
            <a:custGeom>
              <a:avLst/>
              <a:gdLst/>
              <a:ahLst/>
              <a:cxnLst/>
              <a:rect r="r" b="b" t="t" l="l"/>
              <a:pathLst>
                <a:path h="501887" w="895800">
                  <a:moveTo>
                    <a:pt x="0" y="0"/>
                  </a:moveTo>
                  <a:lnTo>
                    <a:pt x="895800" y="0"/>
                  </a:lnTo>
                  <a:lnTo>
                    <a:pt x="895800" y="501887"/>
                  </a:lnTo>
                  <a:lnTo>
                    <a:pt x="0" y="501887"/>
                  </a:ln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95800" cy="549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• Business Logic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Role-Based Access (RBAC)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• Moderation Services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00538" y="6389347"/>
            <a:ext cx="3401241" cy="2410799"/>
            <a:chOff x="0" y="0"/>
            <a:chExt cx="895800" cy="6349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95800" cy="634943"/>
            </a:xfrm>
            <a:custGeom>
              <a:avLst/>
              <a:gdLst/>
              <a:ahLst/>
              <a:cxnLst/>
              <a:rect r="r" b="b" t="t" l="l"/>
              <a:pathLst>
                <a:path h="634943" w="895800">
                  <a:moveTo>
                    <a:pt x="0" y="0"/>
                  </a:moveTo>
                  <a:lnTo>
                    <a:pt x="895800" y="0"/>
                  </a:lnTo>
                  <a:lnTo>
                    <a:pt x="895800" y="634943"/>
                  </a:lnTo>
                  <a:lnTo>
                    <a:pt x="0" y="634943"/>
                  </a:ln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895800" cy="682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• Users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Shout-outs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Comments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Reactions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Admin Logs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877836" y="2619730"/>
            <a:ext cx="2793469" cy="657517"/>
            <a:chOff x="0" y="0"/>
            <a:chExt cx="735729" cy="17317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5729" cy="173173"/>
            </a:xfrm>
            <a:custGeom>
              <a:avLst/>
              <a:gdLst/>
              <a:ahLst/>
              <a:cxnLst/>
              <a:rect r="r" b="b" t="t" l="l"/>
              <a:pathLst>
                <a:path h="173173" w="735729">
                  <a:moveTo>
                    <a:pt x="0" y="0"/>
                  </a:moveTo>
                  <a:lnTo>
                    <a:pt x="735729" y="0"/>
                  </a:lnTo>
                  <a:lnTo>
                    <a:pt x="735729" y="173173"/>
                  </a:lnTo>
                  <a:lnTo>
                    <a:pt x="0" y="173173"/>
                  </a:lnTo>
                  <a:close/>
                </a:path>
              </a:pathLst>
            </a:custGeom>
            <a:solidFill>
              <a:srgbClr val="2E3A44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735729" cy="23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Admin Actions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059728" y="3780153"/>
            <a:ext cx="2429685" cy="1736101"/>
            <a:chOff x="0" y="0"/>
            <a:chExt cx="639917" cy="45724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9917" cy="457245"/>
            </a:xfrm>
            <a:custGeom>
              <a:avLst/>
              <a:gdLst/>
              <a:ahLst/>
              <a:cxnLst/>
              <a:rect r="r" b="b" t="t" l="l"/>
              <a:pathLst>
                <a:path h="457245" w="639917">
                  <a:moveTo>
                    <a:pt x="162506" y="0"/>
                  </a:moveTo>
                  <a:lnTo>
                    <a:pt x="477411" y="0"/>
                  </a:lnTo>
                  <a:cubicBezTo>
                    <a:pt x="567161" y="0"/>
                    <a:pt x="639917" y="72756"/>
                    <a:pt x="639917" y="162506"/>
                  </a:cubicBezTo>
                  <a:lnTo>
                    <a:pt x="639917" y="294739"/>
                  </a:lnTo>
                  <a:cubicBezTo>
                    <a:pt x="639917" y="384488"/>
                    <a:pt x="567161" y="457245"/>
                    <a:pt x="477411" y="457245"/>
                  </a:cubicBezTo>
                  <a:lnTo>
                    <a:pt x="162506" y="457245"/>
                  </a:lnTo>
                  <a:cubicBezTo>
                    <a:pt x="72756" y="457245"/>
                    <a:pt x="0" y="384488"/>
                    <a:pt x="0" y="294739"/>
                  </a:cubicBezTo>
                  <a:lnTo>
                    <a:pt x="0" y="162506"/>
                  </a:lnTo>
                  <a:cubicBezTo>
                    <a:pt x="0" y="72756"/>
                    <a:pt x="72756" y="0"/>
                    <a:pt x="162506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39917" cy="504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Reports</a:t>
              </a:r>
            </a:p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</a:t>
              </a:r>
            </a:p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Action Log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552255" y="490668"/>
            <a:ext cx="12119050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SYSTEM ARCHITECTURE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489705" y="6341722"/>
            <a:ext cx="5769595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React frontend communicates securely with FastAPI backend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using JWT-based authentication and PostgreSQL database.</a:t>
            </a:r>
          </a:p>
        </p:txBody>
      </p:sp>
      <p:sp>
        <p:nvSpPr>
          <p:cNvPr name="AutoShape 45" id="45"/>
          <p:cNvSpPr/>
          <p:nvPr/>
        </p:nvSpPr>
        <p:spPr>
          <a:xfrm>
            <a:off x="4220097" y="2890419"/>
            <a:ext cx="1980908" cy="1901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 flipV="true">
            <a:off x="4536293" y="5183532"/>
            <a:ext cx="1864245" cy="1452672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7" id="47"/>
          <p:cNvSpPr/>
          <p:nvPr/>
        </p:nvSpPr>
        <p:spPr>
          <a:xfrm flipV="true">
            <a:off x="4885914" y="7464464"/>
            <a:ext cx="1373137" cy="406675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8" id="48"/>
          <p:cNvSpPr/>
          <p:nvPr/>
        </p:nvSpPr>
        <p:spPr>
          <a:xfrm>
            <a:off x="14255520" y="3316306"/>
            <a:ext cx="0" cy="502906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5194" y="-1345629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437604" y="3967038"/>
            <a:ext cx="8028675" cy="80286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7259300" y="3262130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36558" y="104775"/>
            <a:ext cx="10814883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EXPECTED OUTCOMES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488079" y="2785155"/>
            <a:ext cx="580876" cy="58087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591071" y="2437026"/>
            <a:ext cx="7371890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Improved employee engagement and morale 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Transparent recognition across teams 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Real-time appreciation and feedback 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• Better admin control and analytics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736558" y="5529646"/>
            <a:ext cx="6693215" cy="3304775"/>
          </a:xfrm>
          <a:custGeom>
            <a:avLst/>
            <a:gdLst/>
            <a:ahLst/>
            <a:cxnLst/>
            <a:rect r="r" b="b" t="t" l="l"/>
            <a:pathLst>
              <a:path h="3304775" w="6693215">
                <a:moveTo>
                  <a:pt x="0" y="0"/>
                </a:moveTo>
                <a:lnTo>
                  <a:pt x="6693215" y="0"/>
                </a:lnTo>
                <a:lnTo>
                  <a:pt x="6693215" y="3304775"/>
                </a:lnTo>
                <a:lnTo>
                  <a:pt x="0" y="330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962961" y="2574673"/>
            <a:ext cx="5598750" cy="3065316"/>
          </a:xfrm>
          <a:custGeom>
            <a:avLst/>
            <a:gdLst/>
            <a:ahLst/>
            <a:cxnLst/>
            <a:rect r="r" b="b" t="t" l="l"/>
            <a:pathLst>
              <a:path h="3065316" w="5598750">
                <a:moveTo>
                  <a:pt x="0" y="0"/>
                </a:moveTo>
                <a:lnTo>
                  <a:pt x="5598750" y="0"/>
                </a:lnTo>
                <a:lnTo>
                  <a:pt x="5598750" y="3065315"/>
                </a:lnTo>
                <a:lnTo>
                  <a:pt x="0" y="3065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962961" y="6566836"/>
            <a:ext cx="4940806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The user-friendly interface ensures seamless interaction,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encouraging participation and engagement across the organization.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5194" y="-1345629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951945" y="-1345629"/>
            <a:ext cx="13341342" cy="133413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7259300" y="3262130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10969" y="3829505"/>
            <a:ext cx="6878428" cy="2332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8"/>
              </a:lnSpc>
            </a:pPr>
            <a:r>
              <a:rPr lang="en-US" sz="6170" b="true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FUTURE ENHANCEMENTS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73149" y="1862387"/>
            <a:ext cx="9330709" cy="685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Gamification &amp; Recognition Badges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Introduce badges like Star Performer, Team Player, Rising Star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Advanced Analytics &amp; Insights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Monthly/quarterly engagement reports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AI-Based Sentiment Analysis 🔥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Analyze shout-out messages to detect positive sentiment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Real-Time Notifications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In-app notifications for new shout-outs and comments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Email notifications for tagged employees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Advanced Moderation Tools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Automatic detection of inappropriate language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3640" y="-2876710"/>
            <a:ext cx="16040420" cy="1604042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TeamsTeam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58762" y="1143932"/>
            <a:ext cx="2513081" cy="251308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358261" y="7672012"/>
            <a:ext cx="1586288" cy="158628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736558" y="2733088"/>
            <a:ext cx="10814883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TEAM MEMBERS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405339" y="5143500"/>
            <a:ext cx="4590649" cy="1736101"/>
            <a:chOff x="0" y="0"/>
            <a:chExt cx="1209060" cy="4572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9060" cy="457245"/>
            </a:xfrm>
            <a:custGeom>
              <a:avLst/>
              <a:gdLst/>
              <a:ahLst/>
              <a:cxnLst/>
              <a:rect r="r" b="b" t="t" l="l"/>
              <a:pathLst>
                <a:path h="457245" w="1209060">
                  <a:moveTo>
                    <a:pt x="86009" y="0"/>
                  </a:moveTo>
                  <a:lnTo>
                    <a:pt x="1123051" y="0"/>
                  </a:lnTo>
                  <a:cubicBezTo>
                    <a:pt x="1170552" y="0"/>
                    <a:pt x="1209060" y="38508"/>
                    <a:pt x="1209060" y="86009"/>
                  </a:cubicBezTo>
                  <a:lnTo>
                    <a:pt x="1209060" y="371236"/>
                  </a:lnTo>
                  <a:cubicBezTo>
                    <a:pt x="1209060" y="394047"/>
                    <a:pt x="1199998" y="415923"/>
                    <a:pt x="1183868" y="432053"/>
                  </a:cubicBezTo>
                  <a:cubicBezTo>
                    <a:pt x="1167739" y="448183"/>
                    <a:pt x="1145862" y="457245"/>
                    <a:pt x="1123051" y="457245"/>
                  </a:cubicBezTo>
                  <a:lnTo>
                    <a:pt x="86009" y="457245"/>
                  </a:lnTo>
                  <a:cubicBezTo>
                    <a:pt x="63198" y="457245"/>
                    <a:pt x="41321" y="448183"/>
                    <a:pt x="25192" y="432053"/>
                  </a:cubicBezTo>
                  <a:cubicBezTo>
                    <a:pt x="9062" y="415923"/>
                    <a:pt x="0" y="394047"/>
                    <a:pt x="0" y="371236"/>
                  </a:cubicBezTo>
                  <a:lnTo>
                    <a:pt x="0" y="86009"/>
                  </a:lnTo>
                  <a:cubicBezTo>
                    <a:pt x="0" y="63198"/>
                    <a:pt x="9062" y="41321"/>
                    <a:pt x="25192" y="25192"/>
                  </a:cubicBezTo>
                  <a:cubicBezTo>
                    <a:pt x="41321" y="9062"/>
                    <a:pt x="63198" y="0"/>
                    <a:pt x="86009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09060" cy="504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A. Jeevesh Srinivas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12835" y="5143500"/>
            <a:ext cx="4590649" cy="1736101"/>
            <a:chOff x="0" y="0"/>
            <a:chExt cx="1209060" cy="4572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9060" cy="457245"/>
            </a:xfrm>
            <a:custGeom>
              <a:avLst/>
              <a:gdLst/>
              <a:ahLst/>
              <a:cxnLst/>
              <a:rect r="r" b="b" t="t" l="l"/>
              <a:pathLst>
                <a:path h="457245" w="1209060">
                  <a:moveTo>
                    <a:pt x="86009" y="0"/>
                  </a:moveTo>
                  <a:lnTo>
                    <a:pt x="1123051" y="0"/>
                  </a:lnTo>
                  <a:cubicBezTo>
                    <a:pt x="1170552" y="0"/>
                    <a:pt x="1209060" y="38508"/>
                    <a:pt x="1209060" y="86009"/>
                  </a:cubicBezTo>
                  <a:lnTo>
                    <a:pt x="1209060" y="371236"/>
                  </a:lnTo>
                  <a:cubicBezTo>
                    <a:pt x="1209060" y="394047"/>
                    <a:pt x="1199998" y="415923"/>
                    <a:pt x="1183868" y="432053"/>
                  </a:cubicBezTo>
                  <a:cubicBezTo>
                    <a:pt x="1167739" y="448183"/>
                    <a:pt x="1145862" y="457245"/>
                    <a:pt x="1123051" y="457245"/>
                  </a:cubicBezTo>
                  <a:lnTo>
                    <a:pt x="86009" y="457245"/>
                  </a:lnTo>
                  <a:cubicBezTo>
                    <a:pt x="63198" y="457245"/>
                    <a:pt x="41321" y="448183"/>
                    <a:pt x="25192" y="432053"/>
                  </a:cubicBezTo>
                  <a:cubicBezTo>
                    <a:pt x="9062" y="415923"/>
                    <a:pt x="0" y="394047"/>
                    <a:pt x="0" y="371236"/>
                  </a:cubicBezTo>
                  <a:lnTo>
                    <a:pt x="0" y="86009"/>
                  </a:lnTo>
                  <a:cubicBezTo>
                    <a:pt x="0" y="63198"/>
                    <a:pt x="9062" y="41321"/>
                    <a:pt x="25192" y="25192"/>
                  </a:cubicBezTo>
                  <a:cubicBezTo>
                    <a:pt x="41321" y="9062"/>
                    <a:pt x="63198" y="0"/>
                    <a:pt x="86009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09060" cy="504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Tejaswini  K. 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1965" y="-2876710"/>
            <a:ext cx="16040420" cy="1604042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11909" y="2437889"/>
            <a:ext cx="7864182" cy="462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10"/>
              </a:lnSpc>
            </a:pPr>
            <a:r>
              <a:rPr lang="en-US" sz="17000" b="true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076091" y="350833"/>
            <a:ext cx="2513081" cy="25130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3303683" y="6254437"/>
            <a:ext cx="1586288" cy="158628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736558" y="7762875"/>
            <a:ext cx="10814883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OPEN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DAG_N_XIJA8</dc:identifier>
  <dcterms:modified xsi:type="dcterms:W3CDTF">2011-08-01T06:04:30Z</dcterms:modified>
  <cp:revision>1</cp:revision>
  <dc:title>BragBoard Internal Employee Recognition Wall</dc:title>
</cp:coreProperties>
</file>